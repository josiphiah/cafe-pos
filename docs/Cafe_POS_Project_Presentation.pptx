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4ea3c892d94045" /><Relationship Type="http://schemas.openxmlformats.org/officeDocument/2006/relationships/extended-properties" Target="/docProps/app.xml" Id="R5adfbcc50c184c73" /><Relationship Type="http://schemas.openxmlformats.org/officeDocument/2006/relationships/officeDocument" Target="/ppt/presentation.xml" Id="Rbc9accb23ce640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58dfb9356a4978"/>
  </p:sldMasterIdLst>
  <p:notesMasterIdLst>
    <p:notesMasterId xmlns:r="http://schemas.openxmlformats.org/officeDocument/2006/relationships" r:id="R79295df131c544db"/>
  </p:notesMasterIdLst>
  <p:sldIdLst>
    <p:sldId xmlns:r="http://schemas.openxmlformats.org/officeDocument/2006/relationships" id="256" r:id="Re2c33f4c62934c9e"/>
    <p:sldId xmlns:r="http://schemas.openxmlformats.org/officeDocument/2006/relationships" id="257" r:id="R4f287e5805244e0a"/>
    <p:sldId xmlns:r="http://schemas.openxmlformats.org/officeDocument/2006/relationships" id="258" r:id="R7137f77dc7114454"/>
    <p:sldId xmlns:r="http://schemas.openxmlformats.org/officeDocument/2006/relationships" id="259" r:id="Rea0946121a8d4b1e"/>
    <p:sldId xmlns:r="http://schemas.openxmlformats.org/officeDocument/2006/relationships" id="260" r:id="R6361424b8e654ae9"/>
    <p:sldId xmlns:r="http://schemas.openxmlformats.org/officeDocument/2006/relationships" id="261" r:id="Rb0015a32d0114f73"/>
    <p:sldId xmlns:r="http://schemas.openxmlformats.org/officeDocument/2006/relationships" id="262" r:id="R6c616b263f91460d"/>
    <p:sldId xmlns:r="http://schemas.openxmlformats.org/officeDocument/2006/relationships" id="263" r:id="Rc9cb9ec4ff78410c"/>
    <p:sldId xmlns:r="http://schemas.openxmlformats.org/officeDocument/2006/relationships" id="264" r:id="R5463eb0fad0b4b89"/>
    <p:sldId xmlns:r="http://schemas.openxmlformats.org/officeDocument/2006/relationships" id="265" r:id="R3398209bb1974942"/>
    <p:sldId xmlns:r="http://schemas.openxmlformats.org/officeDocument/2006/relationships" id="266" r:id="R8835e910c2fb4bc1"/>
    <p:sldId xmlns:r="http://schemas.openxmlformats.org/officeDocument/2006/relationships" id="267" r:id="R69de8bbbe83f4897"/>
    <p:sldId xmlns:r="http://schemas.openxmlformats.org/officeDocument/2006/relationships" id="268" r:id="R3b70ea8c5b084e0b"/>
    <p:sldId xmlns:r="http://schemas.openxmlformats.org/officeDocument/2006/relationships" id="269" r:id="R0fa9976a6f0c4bdb"/>
    <p:sldId xmlns:r="http://schemas.openxmlformats.org/officeDocument/2006/relationships" id="270" r:id="R05d72adc1c5f4b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6cece7051841a6" /><Relationship Type="http://schemas.openxmlformats.org/officeDocument/2006/relationships/slideMaster" Target="/ppt/slideMasters/slideMaster1.xml" Id="R3258dfb9356a4978" /><Relationship Type="http://schemas.openxmlformats.org/officeDocument/2006/relationships/notesMaster" Target="/ppt/notesMasters/notesMaster1.xml" Id="R79295df131c544db" /><Relationship Type="http://schemas.openxmlformats.org/officeDocument/2006/relationships/presProps" Target="/ppt/presProps.xml" Id="R67143383bfa946dd" /><Relationship Type="http://schemas.openxmlformats.org/officeDocument/2006/relationships/tableStyles" Target="/ppt/tableStyles.xml" Id="Rdfe3e7c407da4d8e" /><Relationship Type="http://schemas.openxmlformats.org/officeDocument/2006/relationships/slide" Target="/ppt/slides/slide1.xml" Id="Re2c33f4c62934c9e" /><Relationship Type="http://schemas.openxmlformats.org/officeDocument/2006/relationships/slide" Target="/ppt/slides/slide2.xml" Id="R4f287e5805244e0a" /><Relationship Type="http://schemas.openxmlformats.org/officeDocument/2006/relationships/slide" Target="/ppt/slides/slide3.xml" Id="R7137f77dc7114454" /><Relationship Type="http://schemas.openxmlformats.org/officeDocument/2006/relationships/slide" Target="/ppt/slides/slide4.xml" Id="Rea0946121a8d4b1e" /><Relationship Type="http://schemas.openxmlformats.org/officeDocument/2006/relationships/slide" Target="/ppt/slides/slide5.xml" Id="R6361424b8e654ae9" /><Relationship Type="http://schemas.openxmlformats.org/officeDocument/2006/relationships/slide" Target="/ppt/slides/slide6.xml" Id="Rb0015a32d0114f73" /><Relationship Type="http://schemas.openxmlformats.org/officeDocument/2006/relationships/slide" Target="/ppt/slides/slide7.xml" Id="R6c616b263f91460d" /><Relationship Type="http://schemas.openxmlformats.org/officeDocument/2006/relationships/slide" Target="/ppt/slides/slide8.xml" Id="Rc9cb9ec4ff78410c" /><Relationship Type="http://schemas.openxmlformats.org/officeDocument/2006/relationships/slide" Target="/ppt/slides/slide9.xml" Id="R5463eb0fad0b4b89" /><Relationship Type="http://schemas.openxmlformats.org/officeDocument/2006/relationships/slide" Target="/ppt/slides/slide10.xml" Id="R3398209bb1974942" /><Relationship Type="http://schemas.openxmlformats.org/officeDocument/2006/relationships/slide" Target="/ppt/slides/slide11.xml" Id="R8835e910c2fb4bc1" /><Relationship Type="http://schemas.openxmlformats.org/officeDocument/2006/relationships/slide" Target="/ppt/slides/slide12.xml" Id="R69de8bbbe83f4897" /><Relationship Type="http://schemas.openxmlformats.org/officeDocument/2006/relationships/slide" Target="/ppt/slides/slide13.xml" Id="R3b70ea8c5b084e0b" /><Relationship Type="http://schemas.openxmlformats.org/officeDocument/2006/relationships/slide" Target="/ppt/slides/slide14.xml" Id="R0fa9976a6f0c4bdb" /><Relationship Type="http://schemas.openxmlformats.org/officeDocument/2006/relationships/slide" Target="/ppt/slides/slide15.xml" Id="R05d72adc1c5f4b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bc14d9e1494e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9f7a63358340a7" /><Relationship Type="http://schemas.openxmlformats.org/officeDocument/2006/relationships/notesMaster" Target="/ppt/notesMasters/notesMaster1.xml" Id="Ra83a98a2f74b48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29039ece92468d" /><Relationship Type="http://schemas.openxmlformats.org/officeDocument/2006/relationships/notesMaster" Target="/ppt/notesMasters/notesMaster1.xml" Id="R981214cf3c5448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8ff128f863408c" /><Relationship Type="http://schemas.openxmlformats.org/officeDocument/2006/relationships/notesMaster" Target="/ppt/notesMasters/notesMaster1.xml" Id="Rf1f93997988945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43657182dd4c43" /><Relationship Type="http://schemas.openxmlformats.org/officeDocument/2006/relationships/notesMaster" Target="/ppt/notesMasters/notesMaster1.xml" Id="R5d2fc5c040c047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76140dc7c7496a" /><Relationship Type="http://schemas.openxmlformats.org/officeDocument/2006/relationships/notesMaster" Target="/ppt/notesMasters/notesMaster1.xml" Id="Rd7aca4cc69eb4d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1b42ebe5a84dee" /><Relationship Type="http://schemas.openxmlformats.org/officeDocument/2006/relationships/notesMaster" Target="/ppt/notesMasters/notesMaster1.xml" Id="Re15e7e1701fd48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3104692d4a49e0" /><Relationship Type="http://schemas.openxmlformats.org/officeDocument/2006/relationships/notesMaster" Target="/ppt/notesMasters/notesMaster1.xml" Id="R57fcdc9850624b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99b85677624bb9" /><Relationship Type="http://schemas.openxmlformats.org/officeDocument/2006/relationships/notesMaster" Target="/ppt/notesMasters/notesMaster1.xml" Id="R4007475e82364a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bd5eca63b946aa" /><Relationship Type="http://schemas.openxmlformats.org/officeDocument/2006/relationships/notesMaster" Target="/ppt/notesMasters/notesMaster1.xml" Id="R124c77de054e4a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953ae3f6a54a70" /><Relationship Type="http://schemas.openxmlformats.org/officeDocument/2006/relationships/notesMaster" Target="/ppt/notesMasters/notesMaster1.xml" Id="Ra4af27dc97114b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7a6710ab0343a6" /><Relationship Type="http://schemas.openxmlformats.org/officeDocument/2006/relationships/notesMaster" Target="/ppt/notesMasters/notesMaster1.xml" Id="Rabf8646b2aed4b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e5bb0a2dcf4d5e" /><Relationship Type="http://schemas.openxmlformats.org/officeDocument/2006/relationships/notesMaster" Target="/ppt/notesMasters/notesMaster1.xml" Id="Rf3d4436870a74a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61a894b8394006" /><Relationship Type="http://schemas.openxmlformats.org/officeDocument/2006/relationships/notesMaster" Target="/ppt/notesMasters/notesMaster1.xml" Id="Rb3a1676689eb41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b9db3ea4ba44de" /><Relationship Type="http://schemas.openxmlformats.org/officeDocument/2006/relationships/notesMaster" Target="/ppt/notesMasters/notesMaster1.xml" Id="R1cd04b36c71749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a799415abb49a3" /><Relationship Type="http://schemas.openxmlformats.org/officeDocument/2006/relationships/notesMaster" Target="/ppt/notesMasters/notesMaster1.xml" Id="R9552857e49de4a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fbce453a541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ff63563bf94f3f" /><Relationship Type="http://schemas.openxmlformats.org/officeDocument/2006/relationships/slideLayout" Target="/ppt/slideLayouts/slideLayout1.xml" Id="Re5e20b86a262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e20b86a262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faa4b75bd481d" /><Relationship Type="http://schemas.openxmlformats.org/officeDocument/2006/relationships/notesSlide" Target="/ppt/notesSlides/notesSlide1.xml" Id="R32f21662d0274a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f5a81d60d45d8" /><Relationship Type="http://schemas.openxmlformats.org/officeDocument/2006/relationships/notesSlide" Target="/ppt/notesSlides/notesSlide2.xml" Id="R71c5e1e3bd38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1fd19ba134900" /><Relationship Type="http://schemas.openxmlformats.org/officeDocument/2006/relationships/notesSlide" Target="/ppt/notesSlides/notesSlide3.xml" Id="Rcf479e21d0f34b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91b7d7f0c433d" /><Relationship Type="http://schemas.openxmlformats.org/officeDocument/2006/relationships/notesSlide" Target="/ppt/notesSlides/notesSlide4.xml" Id="R81259aef1e0445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a721bb3c7420c" /><Relationship Type="http://schemas.openxmlformats.org/officeDocument/2006/relationships/notesSlide" Target="/ppt/notesSlides/notesSlide5.xml" Id="R0bef776e048b45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dc2d9659f4087" /><Relationship Type="http://schemas.openxmlformats.org/officeDocument/2006/relationships/notesSlide" Target="/ppt/notesSlides/notesSlide6.xml" Id="Rca795498dffd45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8072b70ed438c" /><Relationship Type="http://schemas.openxmlformats.org/officeDocument/2006/relationships/notesSlide" Target="/ppt/notesSlides/notesSlide7.xml" Id="Re894bdd795f449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5678bb5454f33" /><Relationship Type="http://schemas.openxmlformats.org/officeDocument/2006/relationships/notesSlide" Target="/ppt/notesSlides/notesSlide8.xml" Id="R5337946f64884e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fb97fb93c4fd0" /><Relationship Type="http://schemas.openxmlformats.org/officeDocument/2006/relationships/image" Target="/ppt/media/image.png" Id="R31c2dfe718c74134" /><Relationship Type="http://schemas.openxmlformats.org/officeDocument/2006/relationships/notesSlide" Target="/ppt/notesSlides/notesSlide9.xml" Id="R571835c0009041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83ef16529424b" /><Relationship Type="http://schemas.openxmlformats.org/officeDocument/2006/relationships/image" Target="/ppt/media/image2.png" Id="Re325e2e33f5940d3" /><Relationship Type="http://schemas.openxmlformats.org/officeDocument/2006/relationships/notesSlide" Target="/ppt/notesSlides/notesSlide10.xml" Id="Rb96216d8f15646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d44d3032b4c0d" /><Relationship Type="http://schemas.openxmlformats.org/officeDocument/2006/relationships/notesSlide" Target="/ppt/notesSlides/notesSlide11.xml" Id="R9c85a2533da24f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150e2076a4fe9" /><Relationship Type="http://schemas.openxmlformats.org/officeDocument/2006/relationships/notesSlide" Target="/ppt/notesSlides/notesSlide12.xml" Id="Rbba54c2928fe44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90bd61f6a4b20" /><Relationship Type="http://schemas.openxmlformats.org/officeDocument/2006/relationships/image" Target="/ppt/media/image3.png" Id="Ra85f5e591ed54e14" /><Relationship Type="http://schemas.openxmlformats.org/officeDocument/2006/relationships/image" Target="/ppt/media/image4.png" Id="Rd481ea3d448e4f80" /><Relationship Type="http://schemas.openxmlformats.org/officeDocument/2006/relationships/notesSlide" Target="/ppt/notesSlides/notesSlide13.xml" Id="R08f1b82e9c1548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7e7c10f5741bd" /><Relationship Type="http://schemas.openxmlformats.org/officeDocument/2006/relationships/image" Target="/ppt/media/image5.png" Id="Rb9cc81c9be154eed" /><Relationship Type="http://schemas.openxmlformats.org/officeDocument/2006/relationships/image" Target="/ppt/media/image6.png" Id="Rc2db04fd7ac742b3" /><Relationship Type="http://schemas.openxmlformats.org/officeDocument/2006/relationships/notesSlide" Target="/ppt/notesSlides/notesSlide14.xml" Id="R638fefcdba624e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00106d8be4c22" /><Relationship Type="http://schemas.openxmlformats.org/officeDocument/2006/relationships/notesSlide" Target="/ppt/notesSlides/notesSlide15.xml" Id="Rff59198701a742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5791C-5DD5-4840-9A9C-594FF792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49276-5489-4A8A-894E-ACDD70C9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DFC"/>
                </a:solidFill>
              </a:defRPr>
            </a:pPr>
            <a:r>
              <a:rPr sz="4050" b="1">
                <a:solidFill>
                  <a:srgbClr val="FFFDFC"/>
                </a:solidFill>
              </a:rPr>
              <a:t>CAFÉ POINT OF SALE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F9287-25A8-4FE1-835F-11AED1BF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89B72"/>
                </a:solidFill>
              </a:defRPr>
            </a:pPr>
            <a:r>
              <a:rPr sz="1950" b="0">
                <a:solidFill>
                  <a:srgbClr val="C89B72"/>
                </a:solidFill>
              </a:rPr>
              <a:t>Requirements, Analysis and Architectural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45B44-4A77-47C8-8ED4-2E9B209C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EA158-601B-4EB5-938D-6CE65277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EFE6"/>
                </a:solidFill>
              </a:defRPr>
            </a:pPr>
            <a:r>
              <a:rPr sz="1500" b="0">
                <a:solidFill>
                  <a:srgbClr val="F7EFE6"/>
                </a:solidFill>
              </a:rPr>
              <a:t>Advanced Software Engineering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E6B77-9D5C-42C7-BEAC-C7D823DD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C8B8"/>
                </a:solidFill>
              </a:defRPr>
            </a:pPr>
            <a:r>
              <a:rPr sz="1350" b="0">
                <a:solidFill>
                  <a:srgbClr val="D9C8B8"/>
                </a:solidFill>
              </a:rPr>
              <a:t>University of Zambia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FD012-801B-4A0C-9322-C4794D85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959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9B72"/>
                </a:solidFill>
              </a:defRPr>
            </a:pPr>
            <a:r>
              <a:rPr sz="1200" b="1">
                <a:solidFill>
                  <a:srgbClr val="C89B72"/>
                </a:solidFill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701524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6DAE8-BFD3-4FA5-A2DA-4F5C07BE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98E55-D37B-4B22-832D-AF2774A8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One system brings café operations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F73CC-BFD7-4CBA-B645-C98735A7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D8226-51FB-4BF3-A355-D866EB16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7EFE6"/>
                </a:solidFill>
              </a:defRPr>
            </a:pPr>
            <a:r>
              <a:rPr sz="2100" b="0">
                <a:solidFill>
                  <a:srgbClr val="F7EFE6"/>
                </a:solidFill>
              </a:rPr>
              <a:t>The project replaces disconnected manual processes with a centralized point-of-sale system that supports daily service and management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632A6-4237-4D60-A141-10B7D153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7640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EFE6"/>
          </a:solidFill>
          <a:ln xmlns:a="http://schemas.openxmlformats.org/drawingml/2006/main" w="19050">
            <a:solidFill>
              <a:srgbClr val="C89B7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B1F61-D1CA-4806-A672-B0EF6A80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4E37"/>
                </a:solidFill>
              </a:defRPr>
            </a:pPr>
            <a:r>
              <a:rPr sz="1500" b="1">
                <a:solidFill>
                  <a:srgbClr val="6F4E37"/>
                </a:solidFill>
              </a:rPr>
              <a:t>CORE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84F9F-7109-488A-8C88-CEC7C979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90881-9A2A-4EBD-B62E-5D4EDBDA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4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3022"/>
                </a:solidFill>
              </a:defRPr>
            </a:pPr>
            <a:r>
              <a:rPr sz="1425" b="0">
                <a:solidFill>
                  <a:srgbClr val="4B3022"/>
                </a:solidFill>
              </a:rPr>
              <a:t>Sales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9CE3B-5E05-4F70-9E0A-ABE5A8E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37C2E-6E70-4AE5-BC33-27C9C2BC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3022"/>
                </a:solidFill>
              </a:defRPr>
            </a:pPr>
            <a:r>
              <a:rPr sz="1425" b="0">
                <a:solidFill>
                  <a:srgbClr val="4B3022"/>
                </a:solidFill>
              </a:rPr>
              <a:t>Inventory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2946-D79C-4E53-9CA3-E85F7C13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11F84-41DA-4B9B-9459-E558C952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3022"/>
                </a:solidFill>
              </a:defRPr>
            </a:pPr>
            <a:r>
              <a:rPr sz="1425" b="0">
                <a:solidFill>
                  <a:srgbClr val="4B3022"/>
                </a:solidFill>
              </a:rPr>
              <a:t>Customer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02B62-95E8-4AB4-9C21-7348181F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28022-2D22-4F17-A259-91FCC529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71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3022"/>
                </a:solidFill>
              </a:defRPr>
            </a:pPr>
            <a:r>
              <a:rPr sz="1425" b="0">
                <a:solidFill>
                  <a:srgbClr val="4B3022"/>
                </a:solidFill>
              </a:rPr>
              <a:t>Employee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CF284-D6FD-479E-97B4-C74CFE72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F6FD4-4790-4D67-B781-417EC6A7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3022"/>
                </a:solidFill>
              </a:defRPr>
            </a:pPr>
            <a:r>
              <a:rPr sz="1425" b="0">
                <a:solidFill>
                  <a:srgbClr val="4B3022"/>
                </a:solidFill>
              </a:rPr>
              <a:t>Sales 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D7380-3AF2-4DFB-8208-39E81EFA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72"/>
                </a:solidFill>
              </a:defRPr>
            </a:pPr>
            <a:r>
              <a:rPr sz="1350" b="1">
                <a:solidFill>
                  <a:srgbClr val="C89B72"/>
                </a:solidFill>
              </a:rPr>
              <a:t>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52235-6A57-4362-A8EF-DCB3D8E5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41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C"/>
                </a:solidFill>
              </a:defRPr>
            </a:pPr>
            <a:r>
              <a:rPr sz="2025" b="1">
                <a:solidFill>
                  <a:srgbClr val="FFFDFC"/>
                </a:solidFill>
              </a:rPr>
              <a:t>Faster checkout, more reliable stock information and clearer accountability.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4110D-5EE0-49DB-A02C-2916FFAD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47634-78DA-4C1A-B22F-EEEEE1FD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2578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96F1E-B9D6-4B7A-9489-090CCDB0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BUSINESS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CC5E2-BE0E-4CA1-92C4-03DD4580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Manual work creates avoidable delays and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83956-0C3E-4177-86D9-1E2FBC01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35FD5-2BE2-47DB-BC34-AAFA3791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72"/>
                </a:solidFill>
              </a:defRPr>
            </a:pPr>
            <a:r>
              <a:rPr sz="1350" b="1">
                <a:solidFill>
                  <a:srgbClr val="C89B72"/>
                </a:solidFill>
              </a:rPr>
              <a:t>CURRENT CHALLENGES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5632B-3AB1-4F46-B914-29AA49CC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87A0A-1A3B-47B5-9A57-0215BE8A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EFE6"/>
                </a:solidFill>
              </a:defRPr>
            </a:pPr>
            <a:r>
              <a:rPr sz="1575" b="0">
                <a:solidFill>
                  <a:srgbClr val="F7EFE6"/>
                </a:solidFill>
              </a:rPr>
              <a:t>Slow order and checkout 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20D22-A12D-4CF2-8595-4EA9964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D7456-A412-49E5-BEB6-E9DFC41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EFE6"/>
                </a:solidFill>
              </a:defRPr>
            </a:pPr>
            <a:r>
              <a:rPr sz="1575" b="0">
                <a:solidFill>
                  <a:srgbClr val="F7EFE6"/>
                </a:solidFill>
              </a:rPr>
              <a:t>Inaccurate or outdated stock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D6012-09DA-4A92-89AF-71E179D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3E81F-5420-4A2C-95B0-348E2AE0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EFE6"/>
                </a:solidFill>
              </a:defRPr>
            </a:pPr>
            <a:r>
              <a:rPr sz="1575" b="0">
                <a:solidFill>
                  <a:srgbClr val="F7EFE6"/>
                </a:solidFill>
              </a:rPr>
              <a:t>Billing and inventory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E58CF-782F-4A41-B788-6609176C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D67C6-EE17-4994-981F-DDAA1563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EFE6"/>
                </a:solidFill>
              </a:defRPr>
            </a:pPr>
            <a:r>
              <a:rPr sz="1575" b="0">
                <a:solidFill>
                  <a:srgbClr val="F7EFE6"/>
                </a:solidFill>
              </a:rPr>
              <a:t>Limited sales information for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F4D73-72F3-4D58-A42B-9C013C2D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DEAEB-8FF2-438B-956B-4B866DB1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57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72"/>
                </a:solidFill>
              </a:defRPr>
            </a:pPr>
            <a:r>
              <a:rPr sz="1350" b="1">
                <a:solidFill>
                  <a:srgbClr val="C89B72"/>
                </a:solidFill>
              </a:rPr>
              <a:t>EXPECTED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9F47B-8F6D-475B-85C1-23500B31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41D15-3121-499C-BE76-FDEA9B77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764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EFE6"/>
                </a:solidFill>
              </a:defRPr>
            </a:pPr>
            <a:r>
              <a:rPr sz="1575" b="0">
                <a:solidFill>
                  <a:srgbClr val="F7EFE6"/>
                </a:solidFill>
              </a:rPr>
              <a:t>Quicker, more consistent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0FFDE-BE3C-4D89-BCB0-715A91A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3F562-3A86-49FE-A248-930E8EFD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051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EFE6"/>
                </a:solidFill>
              </a:defRPr>
            </a:pPr>
            <a:r>
              <a:rPr sz="1575" b="0">
                <a:solidFill>
                  <a:srgbClr val="F7EFE6"/>
                </a:solidFill>
              </a:rPr>
              <a:t>Automatic stock updates after sales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04192-79E3-4067-A194-C2DB7260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0C57E-CAD3-4F7F-BD5C-DE22245F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EFE6"/>
                </a:solidFill>
              </a:defRPr>
            </a:pPr>
            <a:r>
              <a:rPr sz="1575" b="0">
                <a:solidFill>
                  <a:srgbClr val="F7EFE6"/>
                </a:solidFill>
              </a:rPr>
              <a:t>Daily, weekly and monthly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0956C-3199-487A-AB13-CEA403F7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459FD-6411-474B-BB92-85CCE49E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EFE6"/>
                </a:solidFill>
              </a:defRPr>
            </a:pPr>
            <a:r>
              <a:rPr sz="1575" b="0">
                <a:solidFill>
                  <a:srgbClr val="F7EFE6"/>
                </a:solidFill>
              </a:rPr>
              <a:t>Lower losses and less manual reporting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EF622-4D65-44F5-BABC-315BD4A7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E28D5-1ECA-4FFB-9C96-4E36BAB1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5502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EDD8F-5EAE-4D18-B0E0-C3556C62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DEVELOPMENT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48196-E7DE-47B7-9D26-4D6087E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Each Unified Process phase reduces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32F7C-2F13-4941-B8CA-F2DB7933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02999-16E4-4CD1-9133-11DAD106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A85B"/>
                </a:solidFill>
              </a:defRPr>
            </a:pPr>
            <a:r>
              <a:rPr sz="2100" b="1">
                <a:solidFill>
                  <a:srgbClr val="D7A85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138AC-17F3-4461-93C9-F173C5F7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DF908-A3EB-4D02-A8F7-382E6B0E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DFC"/>
                </a:solidFill>
              </a:defRPr>
            </a:pPr>
            <a:r>
              <a:rPr sz="1425" b="1">
                <a:solidFill>
                  <a:srgbClr val="FFFDFC"/>
                </a:solidFill>
              </a:rPr>
              <a:t>INCEPTION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649A7-4A4F-45ED-82F7-3F041776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00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C8B8"/>
                </a:solidFill>
              </a:defRPr>
            </a:pPr>
            <a:r>
              <a:rPr sz="1425" b="0">
                <a:solidFill>
                  <a:srgbClr val="D9C8B8"/>
                </a:solidFill>
              </a:rPr>
              <a:t>Scope, feasibility and initial risks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ADEE2-7CA8-4397-B7CD-FABC8FB9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A85B"/>
                </a:solidFill>
              </a:defRPr>
            </a:pPr>
            <a:r>
              <a:rPr sz="2100" b="1">
                <a:solidFill>
                  <a:srgbClr val="D7A85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5CCC9-6BA9-449F-9F5A-57A7E0D7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240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A90F8-1533-4844-95F0-E6F7F7CA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DFC"/>
                </a:solidFill>
              </a:defRPr>
            </a:pPr>
            <a:r>
              <a:rPr sz="1425" b="1">
                <a:solidFill>
                  <a:srgbClr val="FFFDFC"/>
                </a:solidFill>
              </a:rPr>
              <a:t>ELABORATION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E7D62-1334-4E08-A67C-F726964A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2400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C8B8"/>
                </a:solidFill>
              </a:defRPr>
            </a:pPr>
            <a:r>
              <a:rPr sz="1425" b="0">
                <a:solidFill>
                  <a:srgbClr val="D9C8B8"/>
                </a:solidFill>
              </a:rPr>
              <a:t>Detailed use cases and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3D0CE-7418-4C03-B384-86D74536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A85B"/>
                </a:solidFill>
              </a:defRPr>
            </a:pPr>
            <a:r>
              <a:rPr sz="2100" b="1">
                <a:solidFill>
                  <a:srgbClr val="D7A85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D552F-7012-48CC-B3EC-D26F95AA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A7CAC-3BFE-48DF-9414-461275ED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DFC"/>
                </a:solidFill>
              </a:defRPr>
            </a:pPr>
            <a:r>
              <a:rPr sz="1425" b="1">
                <a:solidFill>
                  <a:srgbClr val="FFFDFC"/>
                </a:solidFill>
              </a:rPr>
              <a:t>CONSTRUCTION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C52C0-17CB-446B-AEFA-61D61ACE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2400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C8B8"/>
                </a:solidFill>
              </a:defRPr>
            </a:pPr>
            <a:r>
              <a:rPr sz="1425" b="0">
                <a:solidFill>
                  <a:srgbClr val="D9C8B8"/>
                </a:solidFill>
              </a:rPr>
              <a:t>Implementation and testing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26FC5-7EF7-4237-AA4C-7EB7DC8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7A85B"/>
                </a:solidFill>
              </a:defRPr>
            </a:pPr>
            <a:r>
              <a:rPr sz="2100" b="1">
                <a:solidFill>
                  <a:srgbClr val="D7A85B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AD571-EE81-4A7B-BBBE-38654335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240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4EED2-99AC-48A6-9D18-D9A2FD8E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DFC"/>
                </a:solidFill>
              </a:defRPr>
            </a:pPr>
            <a:r>
              <a:rPr sz="1425" b="1">
                <a:solidFill>
                  <a:srgbClr val="FFFDFC"/>
                </a:solidFill>
              </a:rPr>
              <a:t>TRANSITION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851B9-7DF3-4B62-8A19-C7C14C0A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400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C8B8"/>
                </a:solidFill>
              </a:defRPr>
            </a:pPr>
            <a:r>
              <a:rPr sz="1425" b="0">
                <a:solidFill>
                  <a:srgbClr val="D9C8B8"/>
                </a:solidFill>
              </a:rPr>
              <a:t>Deployment, training and adoption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D0F64-56AC-453F-A94C-83D68C5D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72"/>
                </a:solidFill>
              </a:defRPr>
            </a:pPr>
            <a:r>
              <a:rPr sz="1350" b="1">
                <a:solidFill>
                  <a:srgbClr val="C89B72"/>
                </a:solidFill>
              </a:rPr>
              <a:t>Current focus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507E1-D2D0-4216-A4A1-378F8A37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EFE6"/>
                </a:solidFill>
              </a:defRPr>
            </a:pPr>
            <a:r>
              <a:rPr sz="1800" b="0">
                <a:solidFill>
                  <a:srgbClr val="F7EFE6"/>
                </a:solidFill>
              </a:rPr>
              <a:t>The project has moved into Elaboration, where requirements, domain concepts, architecture and key risks are refined before full implementation.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62B59-41B1-416A-916C-606FDDEE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0D198-204D-42E4-9CE2-8E3B7A0A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7257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AF405-FE4F-4888-B76B-CDDC8253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REQUIREMENTS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1B4CF-B477-473F-B0C8-A323255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Four actors shape the system’s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8858A-EF70-48C3-A3E8-49BC401D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EC35D-9D87-440F-AA92-2CF04579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5B"/>
                </a:solidFill>
              </a:defRPr>
            </a:pPr>
            <a:r>
              <a:rPr sz="1575" b="1">
                <a:solidFill>
                  <a:srgbClr val="D7A85B"/>
                </a:solidFill>
              </a:rPr>
              <a:t>CUSTOMER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1A0C8-2B6B-4D2C-A0B0-ADD8FB0B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00445-C752-4126-BCA2-B9625930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47825"/>
            <a:ext cx="662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FE6"/>
                </a:solidFill>
              </a:defRPr>
            </a:pPr>
            <a:r>
              <a:rPr sz="1650" b="0">
                <a:solidFill>
                  <a:srgbClr val="F7EFE6"/>
                </a:solidFill>
              </a:rPr>
              <a:t>Receives completed sales and receipts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E97EA-B95D-4DD7-BAB1-BE1EE2E2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5B"/>
                </a:solidFill>
              </a:defRPr>
            </a:pPr>
            <a:r>
              <a:rPr sz="1575" b="1">
                <a:solidFill>
                  <a:srgbClr val="D7A85B"/>
                </a:solidFill>
              </a:rPr>
              <a:t>CASHIER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C0DC9-A197-4F11-B02B-CE6C25E7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479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796BF-7B6D-40E1-94F3-F0485EAF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662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FE6"/>
                </a:solidFill>
              </a:defRPr>
            </a:pPr>
            <a:r>
              <a:rPr sz="1650" b="0">
                <a:solidFill>
                  <a:srgbClr val="F7EFE6"/>
                </a:solidFill>
              </a:rPr>
              <a:t>Logs in, processes sales and registers customers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0BD3A-1704-48C9-88E4-BFDD2A7E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5B"/>
                </a:solidFill>
              </a:defRPr>
            </a:pPr>
            <a:r>
              <a:rPr sz="1575" b="1">
                <a:solidFill>
                  <a:srgbClr val="D7A85B"/>
                </a:solidFill>
              </a:rPr>
              <a:t>STORE 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D0A1D-9D29-4D16-8EEF-01AB8F8C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CFBC5-0055-4AA7-B86F-C4F9BE2C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48075"/>
            <a:ext cx="662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FE6"/>
                </a:solidFill>
              </a:defRPr>
            </a:pPr>
            <a:r>
              <a:rPr sz="1650" b="0">
                <a:solidFill>
                  <a:srgbClr val="F7EFE6"/>
                </a:solidFill>
              </a:rPr>
              <a:t>Controls stock, reports and employee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5D7D8-EA48-4073-928B-9E66C810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5B"/>
                </a:solidFill>
              </a:defRPr>
            </a:pPr>
            <a:r>
              <a:rPr sz="1575" b="1">
                <a:solidFill>
                  <a:srgbClr val="D7A85B"/>
                </a:solidFill>
              </a:rPr>
              <a:t>SUPER 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939C9-1D35-499F-8002-1E0AB2CF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4822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49F77-C0F7-41C7-9C2D-C05A9315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48200"/>
            <a:ext cx="662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FE6"/>
                </a:solidFill>
              </a:defRPr>
            </a:pPr>
            <a:r>
              <a:rPr sz="1650" b="0">
                <a:solidFill>
                  <a:srgbClr val="F7EFE6"/>
                </a:solidFill>
              </a:rPr>
              <a:t>Onboards employees and assigns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7C3EE-6551-4EEC-96BE-5DE8FBAC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16345-3AF5-4251-B80A-EC012C91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2770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D67E9-5119-43BC-9E44-5741914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REQUIREMENTS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7BD4F-93B5-461F-93AB-0DB2CF6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The essential functions support service and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12AFF-0476-48A2-A0E5-F8EC5C44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D8708-EC6A-446B-B9F5-31868CB3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4E8C6-D24D-43D3-87C0-23C0DE1D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106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EFE6"/>
                </a:solidFill>
              </a:defRPr>
            </a:pPr>
            <a:r>
              <a:rPr sz="1725" b="0">
                <a:solidFill>
                  <a:srgbClr val="F7EFE6"/>
                </a:solidFill>
              </a:rPr>
              <a:t>Secure login with role-based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55411-8937-4F7C-9885-2737AF08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BD19B-AFF6-404C-8151-ECA686A2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0106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EFE6"/>
                </a:solidFill>
              </a:defRPr>
            </a:pPr>
            <a:r>
              <a:rPr sz="1725" b="0">
                <a:solidFill>
                  <a:srgbClr val="F7EFE6"/>
                </a:solidFill>
              </a:rPr>
              <a:t>Process a complete sale and calculate totals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14E11-8B8A-43AD-A00D-53884BFD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39523-87CA-470F-AC9D-031CBDDB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0106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EFE6"/>
                </a:solidFill>
              </a:defRPr>
            </a:pPr>
            <a:r>
              <a:rPr sz="1725" b="0">
                <a:solidFill>
                  <a:srgbClr val="F7EFE6"/>
                </a:solidFill>
              </a:rPr>
              <a:t>Update inventory automatically after each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854CC-D980-4E38-A0F5-2992775C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C1624-F43A-4116-8F27-D20F4E16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10106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EFE6"/>
                </a:solidFill>
              </a:defRPr>
            </a:pPr>
            <a:r>
              <a:rPr sz="1725" b="0">
                <a:solidFill>
                  <a:srgbClr val="F7EFE6"/>
                </a:solidFill>
              </a:rPr>
              <a:t>Add, edit, deactivate and review menu items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CABEC-A79A-4F7F-9B11-21E8F710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176B2-7F2B-471A-8185-31A1028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10106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EFE6"/>
                </a:solidFill>
              </a:defRPr>
            </a:pPr>
            <a:r>
              <a:rPr sz="1725" b="0">
                <a:solidFill>
                  <a:srgbClr val="F7EFE6"/>
                </a:solidFill>
              </a:rPr>
              <a:t>Register customers and retrieve purchase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B226A-E3B1-499F-9EDD-A44CFA5E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1DEB2-25FF-4E80-A7D6-C3D4D382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10106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EFE6"/>
                </a:solidFill>
              </a:defRPr>
            </a:pPr>
            <a:r>
              <a:rPr sz="1725" b="0">
                <a:solidFill>
                  <a:srgbClr val="F7EFE6"/>
                </a:solidFill>
              </a:rPr>
              <a:t>Generate sales reports and manage employee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16725-CD07-46E9-884B-9CE89048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5375A-005F-4353-8688-1A5EC2CE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5613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FB44B1-7EFB-4E04-B0CF-28256005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ELABORATION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20354-8661-49E9-817B-4DAAD80A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Five use cases define the most important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0C5B3-5F9C-4B0C-8A40-0E886AEC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3B040-2F1E-4D72-848F-69AC75A4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A85B"/>
                </a:solidFill>
              </a:defRPr>
            </a:pPr>
            <a:r>
              <a:rPr sz="1725" b="1">
                <a:solidFill>
                  <a:srgbClr val="D7A85B"/>
                </a:solidFill>
              </a:rPr>
              <a:t>UC1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AFF3B-EF19-45D2-80D5-A5DA8188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55FFE-53A1-473E-AEC1-D08265BF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14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DFC"/>
                </a:solidFill>
              </a:defRPr>
            </a:pPr>
            <a:r>
              <a:rPr sz="1875" b="0">
                <a:solidFill>
                  <a:srgbClr val="FFFDFC"/>
                </a:solidFill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0AE52-A694-4E79-87B1-4646976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240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C8B8"/>
                </a:solidFill>
              </a:defRPr>
            </a:pPr>
            <a:r>
              <a:rPr sz="1350" b="0">
                <a:solidFill>
                  <a:srgbClr val="D9C8B8"/>
                </a:solidFill>
              </a:rPr>
              <a:t>Fully dressed use-case description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6E2CB-16FE-4EA4-B140-B0BF56C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A85B"/>
                </a:solidFill>
              </a:defRPr>
            </a:pPr>
            <a:r>
              <a:rPr sz="1725" b="1">
                <a:solidFill>
                  <a:srgbClr val="D7A85B"/>
                </a:solidFill>
              </a:rPr>
              <a:t>UC2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77461-6B62-493E-A36D-031C588A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00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B4775-A80A-49F0-A9EA-7AF9B79A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95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C"/>
                </a:solidFill>
              </a:defRPr>
            </a:pPr>
            <a:r>
              <a:rPr sz="1875" b="1">
                <a:solidFill>
                  <a:srgbClr val="FFFDFC"/>
                </a:solidFill>
              </a:rPr>
              <a:t>Process Sale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7AE8A-D20D-4AC5-8132-98245CA9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050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7A85B"/>
                </a:solidFill>
              </a:defRPr>
            </a:pPr>
            <a:r>
              <a:rPr sz="1350" b="0">
                <a:solidFill>
                  <a:srgbClr val="D7A85B"/>
                </a:solidFill>
              </a:rPr>
              <a:t>First end-to-end implementation 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E5309-8127-4600-8D51-7117AE11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A85B"/>
                </a:solidFill>
              </a:defRPr>
            </a:pPr>
            <a:r>
              <a:rPr sz="1725" b="1">
                <a:solidFill>
                  <a:srgbClr val="D7A85B"/>
                </a:solidFill>
              </a:rPr>
              <a:t>UC3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354FF-7E7C-4B33-BA3D-F7460D84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04B26-B3FE-49CE-BF5E-90A8095D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76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DFC"/>
                </a:solidFill>
              </a:defRPr>
            </a:pPr>
            <a:r>
              <a:rPr sz="1875" b="0">
                <a:solidFill>
                  <a:srgbClr val="FFFDFC"/>
                </a:solidFill>
              </a:rPr>
              <a:t>Restock Inventory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0398F-584F-4360-BEC8-089FEA4F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C8B8"/>
                </a:solidFill>
              </a:defRPr>
            </a:pPr>
            <a:r>
              <a:rPr sz="1350" b="0">
                <a:solidFill>
                  <a:srgbClr val="D9C8B8"/>
                </a:solidFill>
              </a:rPr>
              <a:t>Fully dressed use-case description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24EED-3EFE-4870-ABAB-666ABB6E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A85B"/>
                </a:solidFill>
              </a:defRPr>
            </a:pPr>
            <a:r>
              <a:rPr sz="1725" b="1">
                <a:solidFill>
                  <a:srgbClr val="D7A85B"/>
                </a:solidFill>
              </a:rPr>
              <a:t>UC4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4245D-9332-4E0C-BA4A-768AF1F9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CA23A-1543-4A4B-BB9E-61EC810D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576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DFC"/>
                </a:solidFill>
              </a:defRPr>
            </a:pPr>
            <a:r>
              <a:rPr sz="1875" b="0">
                <a:solidFill>
                  <a:srgbClr val="FFFDFC"/>
                </a:solidFill>
              </a:rPr>
              <a:t>Manage Employees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94D3A-8D33-4873-B1B9-4EC0E704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671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C8B8"/>
                </a:solidFill>
              </a:defRPr>
            </a:pPr>
            <a:r>
              <a:rPr sz="1350" b="0">
                <a:solidFill>
                  <a:srgbClr val="D9C8B8"/>
                </a:solidFill>
              </a:rPr>
              <a:t>Fully dressed use-case description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B33B4-BC27-4292-83BA-21A68544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A85B"/>
                </a:solidFill>
              </a:defRPr>
            </a:pPr>
            <a:r>
              <a:rPr sz="1725" b="1">
                <a:solidFill>
                  <a:srgbClr val="D7A85B"/>
                </a:solidFill>
              </a:rPr>
              <a:t>UC5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B2A72-936F-42BE-8B77-808F992E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3899E-873E-4908-848D-C41B94E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387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DFC"/>
                </a:solidFill>
              </a:defRPr>
            </a:pPr>
            <a:r>
              <a:rPr sz="1875" b="0">
                <a:solidFill>
                  <a:srgbClr val="FFFDFC"/>
                </a:solidFill>
              </a:rPr>
              <a:t>Manage Menu Items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E70924-84E2-43F5-AD3A-29153448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482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C8B8"/>
                </a:solidFill>
              </a:defRPr>
            </a:pPr>
            <a:r>
              <a:rPr sz="1350" b="0">
                <a:solidFill>
                  <a:srgbClr val="D9C8B8"/>
                </a:solidFill>
              </a:rPr>
              <a:t>Fully dressed use-case description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64CB1-9C92-4441-BB35-497B212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00388-4FB4-4EA2-BA84-709076BD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9389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85F94-C103-44B5-958B-4E550417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CORE TRANSACTION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55D0C-43B3-48B5-B545-A0F4377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Process Sale connects revenue, payment and stock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83C7A-99BB-46B5-BC7A-8E8F9E9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F3181-4D5C-454B-831D-302196CA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A85B"/>
                </a:solidFill>
              </a:defRPr>
            </a:pPr>
            <a:r>
              <a:rPr sz="1800" b="1">
                <a:solidFill>
                  <a:srgbClr val="D7A85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9E99A-D792-4B92-9C01-1DA2D4E1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EFE6"/>
                </a:solidFill>
              </a:defRPr>
            </a:pPr>
            <a:r>
              <a:rPr sz="1650" b="1">
                <a:solidFill>
                  <a:srgbClr val="F7EFE6"/>
                </a:solidFill>
              </a:rPr>
              <a:t>Start a new sale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081BD-9DE6-45B1-BCC0-9D8EEB1C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A85B"/>
                </a:solidFill>
              </a:defRPr>
            </a:pPr>
            <a:r>
              <a:rPr sz="1800" b="1">
                <a:solidFill>
                  <a:srgbClr val="D7A85B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A805D-06A0-43FE-B83F-41CE83DA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EFE6"/>
                </a:solidFill>
              </a:defRPr>
            </a:pPr>
            <a:r>
              <a:rPr sz="1650" b="1">
                <a:solidFill>
                  <a:srgbClr val="F7EFE6"/>
                </a:solidFill>
              </a:rPr>
              <a:t>Enter menu items and quantities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77A85-92DF-4C5E-AFA9-A0A1157E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A85B"/>
                </a:solidFill>
              </a:defRPr>
            </a:pPr>
            <a:r>
              <a:rPr sz="1800" b="1">
                <a:solidFill>
                  <a:srgbClr val="D7A85B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E4D07-56D9-45E8-99D5-E9E5CB00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EFE6"/>
                </a:solidFill>
              </a:defRPr>
            </a:pPr>
            <a:r>
              <a:rPr sz="1650" b="1">
                <a:solidFill>
                  <a:srgbClr val="F7EFE6"/>
                </a:solidFill>
              </a:rPr>
              <a:t>Calculate subtotal, VAT and 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02B60-5D52-4226-84FA-4B4DEB7E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A85B"/>
                </a:solidFill>
              </a:defRPr>
            </a:pPr>
            <a:r>
              <a:rPr sz="1800" b="1">
                <a:solidFill>
                  <a:srgbClr val="D7A85B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A82E-AAE6-4C2E-8DF7-F9967D26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EFE6"/>
                </a:solidFill>
              </a:defRPr>
            </a:pPr>
            <a:r>
              <a:rPr sz="1650" b="1">
                <a:solidFill>
                  <a:srgbClr val="F7EFE6"/>
                </a:solidFill>
              </a:rPr>
              <a:t>Validate and record 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D5B68-2E32-4091-B45E-BDE13E5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A85B"/>
                </a:solidFill>
              </a:defRPr>
            </a:pPr>
            <a:r>
              <a:rPr sz="1800" b="1">
                <a:solidFill>
                  <a:srgbClr val="D7A85B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B1A8F-FC8C-49EA-B014-5944D8CC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576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EFE6"/>
                </a:solidFill>
              </a:defRPr>
            </a:pPr>
            <a:r>
              <a:rPr sz="1650" b="1">
                <a:solidFill>
                  <a:srgbClr val="F7EFE6"/>
                </a:solidFill>
              </a:rPr>
              <a:t>Update 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11647-887A-4840-9FFF-7809F45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A85B"/>
                </a:solidFill>
              </a:defRPr>
            </a:pPr>
            <a:r>
              <a:rPr sz="1800" b="1">
                <a:solidFill>
                  <a:srgbClr val="D7A85B"/>
                </a:solidFill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7DDE4-A9BF-44E9-8A4A-4FB5CB07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576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EFE6"/>
                </a:solidFill>
              </a:defRPr>
            </a:pPr>
            <a:r>
              <a:rPr sz="1650" b="1">
                <a:solidFill>
                  <a:srgbClr val="F7EFE6"/>
                </a:solidFill>
              </a:rPr>
              <a:t>Generate the customer receipt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79AA8-1F26-4050-A55F-D3F72A4D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72"/>
                </a:solidFill>
              </a:defRPr>
            </a:pPr>
            <a:r>
              <a:rPr sz="1350" b="1">
                <a:solidFill>
                  <a:srgbClr val="C89B72"/>
                </a:solidFill>
              </a:rPr>
              <a:t>Transaction 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0B6B7-F6AF-4CAC-864E-8B052D9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62575"/>
            <a:ext cx="817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C8B8"/>
                </a:solidFill>
              </a:defRPr>
            </a:pPr>
            <a:r>
              <a:rPr sz="1500" b="0">
                <a:solidFill>
                  <a:srgbClr val="D9C8B8"/>
                </a:solidFill>
              </a:rPr>
              <a:t>If the final commit fails, the system rolls back the sale so no partial payment or stock update remains.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9E2B6-6A25-43F7-B2FE-DFF23D6A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3A184-4CC1-4E6A-AA1C-C28C3124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9068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7949B-9AC2-4347-BEA6-61976B10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CONCEPTUAL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453A9-A68B-4BF9-B1A6-35299ED5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The domain model links the key business concepts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8EF06-2020-4037-B194-6D5E5A78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2ECED-0B34-4F49-813E-F2FD793B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7EF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2dfe718c74134"/>
          <a:stretch xmlns:a="http://schemas.openxmlformats.org/drawingml/2006/main"/>
        </p:blipFill>
        <p:spPr>
          <a:xfrm xmlns:a="http://schemas.openxmlformats.org/drawingml/2006/main">
            <a:off x="4603812" y="1619250"/>
            <a:ext cx="2984375" cy="426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5306E-40BB-4D0D-8D7C-509E7DD3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EFF4C-E1DB-4498-B2F7-580E383E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8605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77C31-CCB5-478E-8B16-049F155B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TECHNICAL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6FBBD-4950-4325-997C-75E1FC75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Three layers keep responsibilities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C9D8F-CB49-47F6-A258-898AA599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2530A-EDEA-4F1F-B3DC-E19BF144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7EF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5e2e33f5940d3"/>
          <a:stretch xmlns:a="http://schemas.openxmlformats.org/drawingml/2006/main"/>
        </p:blipFill>
        <p:spPr>
          <a:xfrm xmlns:a="http://schemas.openxmlformats.org/drawingml/2006/main">
            <a:off x="2767437" y="1790700"/>
            <a:ext cx="6657126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EF690-3247-445D-98B1-EEF5208E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857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9B72"/>
                </a:solidFill>
              </a:defRPr>
            </a:pPr>
            <a:r>
              <a:rPr sz="1500" b="1">
                <a:solidFill>
                  <a:srgbClr val="C89B72"/>
                </a:solidFill>
              </a:rPr>
              <a:t>Presentation → Domain / Application → Data Access → Database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DC3C2-A83D-49FB-80B3-4EFD8FD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5E11A-6D35-45CD-BECB-B5CAE6BD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31331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D4285-79F1-439A-9442-15ACB93F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DESIGN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4F708-65C4-4089-A9B2-92FBD8E7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Layering improves security, testing and maintainability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776DD-58A4-4E59-9C84-5398AE1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DF4F8-0DB1-4EB3-8597-4FE99204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85B"/>
                </a:solidFill>
              </a:defRPr>
            </a:pPr>
            <a:r>
              <a:rPr sz="1425" b="1">
                <a:solidFill>
                  <a:srgbClr val="D7A85B"/>
                </a:solidFill>
              </a:rPr>
              <a:t>DATABASE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96851-A4CD-4335-A4AA-E67B841D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19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04407-4DDB-404C-8CE8-826E6CC2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219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EFE6"/>
                </a:solidFill>
              </a:defRPr>
            </a:pPr>
            <a:r>
              <a:rPr sz="1725" b="0">
                <a:solidFill>
                  <a:srgbClr val="F7EFE6"/>
                </a:solidFill>
              </a:rPr>
              <a:t>Schema and query changes stay in the data-access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B4F28-428A-4CD1-B8ED-D90F5DF5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85B"/>
                </a:solidFill>
              </a:defRPr>
            </a:pPr>
            <a:r>
              <a:rPr sz="1425" b="1">
                <a:solidFill>
                  <a:srgbClr val="D7A85B"/>
                </a:solidFill>
              </a:rPr>
              <a:t>ROLE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4C6BA-0564-483C-A6A7-2093B9C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3219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BE247-1E4A-446D-9886-A42E54CF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3219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EFE6"/>
                </a:solidFill>
              </a:defRPr>
            </a:pPr>
            <a:r>
              <a:rPr sz="1725" b="0">
                <a:solidFill>
                  <a:srgbClr val="F7EFE6"/>
                </a:solidFill>
              </a:rPr>
              <a:t>Protected operations pass through authentication and authorization.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537A2-2E07-4628-917C-89F76EE6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85B"/>
                </a:solidFill>
              </a:defRPr>
            </a:pPr>
            <a:r>
              <a:rPr sz="1425" b="1">
                <a:solidFill>
                  <a:srgbClr val="D7A85B"/>
                </a:solidFill>
              </a:rPr>
              <a:t>TESTABILITY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F0904-5350-4A47-A788-77542941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3219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D1224-F5C5-4668-98B7-3FFDEAE2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3219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EFE6"/>
                </a:solidFill>
              </a:defRPr>
            </a:pPr>
            <a:r>
              <a:rPr sz="1725" b="0">
                <a:solidFill>
                  <a:srgbClr val="F7EFE6"/>
                </a:solidFill>
              </a:rPr>
              <a:t>Business logic can be tested without the interface or a live database.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CD4BF-B506-4515-98D1-4CB663C1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72"/>
                </a:solidFill>
              </a:defRPr>
            </a:pPr>
            <a:r>
              <a:rPr sz="1350" b="1">
                <a:solidFill>
                  <a:srgbClr val="C89B72"/>
                </a:solidFill>
              </a:rPr>
              <a:t>Validation priority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67ECC-F065-4AAB-ABCD-91C6981B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DFC"/>
                </a:solidFill>
              </a:defRPr>
            </a:pPr>
            <a:r>
              <a:rPr sz="1950" b="1">
                <a:solidFill>
                  <a:srgbClr val="FFFDFC"/>
                </a:solidFill>
              </a:rPr>
              <a:t>Implement Process Sale through all three layers first because it exercises the system’s highest-value transaction.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EBB7D-B004-4C51-9403-4496CDA4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CB0C0-9C2B-47D8-AF43-F11958A9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3310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E3FB2-741B-4308-AF42-4F7F4A57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2A5F5-865E-4137-AB8F-BA3E12E2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The system is feasible, but four risks need continued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14DE9-92BD-4D73-968C-8F96A868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FBBE2-6949-43B8-B9AD-42AEEE31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5B"/>
                </a:solidFill>
              </a:defRPr>
            </a:pPr>
            <a:r>
              <a:rPr sz="1650" b="1">
                <a:solidFill>
                  <a:srgbClr val="D7A85B"/>
                </a:solidFill>
              </a:rPr>
              <a:t>Data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38244-50F9-4D26-BA60-777A6015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8F415-61F9-4CA3-AD4E-35BD6ABE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FE6"/>
                </a:solidFill>
              </a:defRPr>
            </a:pPr>
            <a:r>
              <a:rPr sz="1650" b="0">
                <a:solidFill>
                  <a:srgbClr val="F7EFE6"/>
                </a:solidFill>
              </a:rPr>
              <a:t>Backup and transaction logging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E9EE5-BFA6-4202-8FBC-08FB7F5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5B"/>
                </a:solidFill>
              </a:defRPr>
            </a:pPr>
            <a:r>
              <a:rPr sz="1650" b="1">
                <a:solidFill>
                  <a:srgbClr val="D7A85B"/>
                </a:solidFill>
              </a:rPr>
              <a:t>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98E72-B8DA-4CC9-B1A6-DFE629B7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479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6BF99-ACC5-4BE2-843F-E1D35705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765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FE6"/>
                </a:solidFill>
              </a:defRPr>
            </a:pPr>
            <a:r>
              <a:rPr sz="1650" b="0">
                <a:solidFill>
                  <a:srgbClr val="F7EFE6"/>
                </a:solidFill>
              </a:rPr>
              <a:t>Role-based access and account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A7C0A-7231-4BD3-903D-FAB5BFD2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5B"/>
                </a:solidFill>
              </a:defRPr>
            </a:pPr>
            <a:r>
              <a:rPr sz="1650" b="1">
                <a:solidFill>
                  <a:srgbClr val="D7A85B"/>
                </a:solidFill>
              </a:rPr>
              <a:t>Schedule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D4742-47CB-44CD-BDA4-884A365F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CB3CA-707B-43B6-A647-A71C8F08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FE6"/>
                </a:solidFill>
              </a:defRPr>
            </a:pPr>
            <a:r>
              <a:rPr sz="1650" b="0">
                <a:solidFill>
                  <a:srgbClr val="F7EFE6"/>
                </a:solidFill>
              </a:rPr>
              <a:t>Milestones and iterative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18213-44A5-483A-8D6B-FCE8B51E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8E80"/>
                </a:solidFill>
              </a:defRPr>
            </a:pPr>
            <a:r>
              <a:rPr sz="1650" b="1">
                <a:solidFill>
                  <a:srgbClr val="D88E80"/>
                </a:solidFill>
              </a:rPr>
              <a:t>Admin dependency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BF219-0D93-495D-BB0A-28EB74C4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482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B2B67-A078-4650-8A41-F31C548D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767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FE6"/>
                </a:solidFill>
              </a:defRPr>
            </a:pPr>
            <a:r>
              <a:rPr sz="1650" b="0">
                <a:solidFill>
                  <a:srgbClr val="F7EFE6"/>
                </a:solidFill>
              </a:rPr>
              <a:t>Strong recovery and audit procedures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4B083-98E9-48C0-8527-1734406A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C3A0"/>
                </a:solidFill>
              </a:defRPr>
            </a:pPr>
            <a:r>
              <a:rPr sz="1650" b="1">
                <a:solidFill>
                  <a:srgbClr val="A9C3A0"/>
                </a:solidFill>
              </a:rPr>
              <a:t>Conclusion: technically, economically and operationally achievable within the proposed scope.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9B201-7476-4572-B30C-3A683DCF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EA707-893C-4A86-8B67-5AA84CD5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043381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10762-7F67-4525-9297-DBDAA1EA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SYSTEM INTERACTIONS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A073D-2921-4490-AAB6-0D4C61FB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Login and Process Sale show the main actor–system exchanges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FEEDB-E043-49C8-801B-17E2B4AB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E354B-1CCD-4B0A-AD54-F31220F3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B72"/>
                </a:solidFill>
              </a:defRPr>
            </a:pPr>
            <a:r>
              <a:rPr sz="1425" b="1">
                <a:solidFill>
                  <a:srgbClr val="C89B72"/>
                </a:solidFill>
              </a:rPr>
              <a:t>SSD1: 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C8563-D084-49CA-986B-D42660EA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95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B72"/>
                </a:solidFill>
              </a:defRPr>
            </a:pPr>
            <a:r>
              <a:rPr sz="1425" b="1">
                <a:solidFill>
                  <a:srgbClr val="C89B72"/>
                </a:solidFill>
              </a:rPr>
              <a:t>SSD2: Process Sale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D1D20-B868-4EAB-B2D0-6777071F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143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7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FC96E-04EB-4719-BF0D-FBAF8CA9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5143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7EF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f5e591ed54e14"/>
          <a:stretch xmlns:a="http://schemas.openxmlformats.org/drawingml/2006/main"/>
        </p:blipFill>
        <p:spPr>
          <a:xfrm xmlns:a="http://schemas.openxmlformats.org/drawingml/2006/main">
            <a:off x="838200" y="2362225"/>
            <a:ext cx="4838700" cy="2819349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1ea3d448e4f80"/>
          <a:stretch xmlns:a="http://schemas.openxmlformats.org/drawingml/2006/main"/>
        </p:blipFill>
        <p:spPr>
          <a:xfrm xmlns:a="http://schemas.openxmlformats.org/drawingml/2006/main">
            <a:off x="6515100" y="2362225"/>
            <a:ext cx="4838700" cy="281934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4924A-E9FA-4224-A81B-CF875968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54BFA-2CDB-47BA-A268-AAF15C9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404092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94535-4FB9-4D30-A112-B43DA1D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72"/>
                </a:solidFill>
              </a:defRPr>
            </a:pPr>
            <a:r>
              <a:rPr sz="1125" b="1">
                <a:solidFill>
                  <a:srgbClr val="C89B72"/>
                </a:solidFill>
              </a:rPr>
              <a:t>SYSTEM INTERACTIONS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783FB-A807-454F-B4DE-466A6897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DFC"/>
                </a:solidFill>
              </a:defRPr>
            </a:pPr>
            <a:r>
              <a:rPr sz="2700" b="1">
                <a:solidFill>
                  <a:srgbClr val="FFFDFC"/>
                </a:solidFill>
              </a:rPr>
              <a:t>Inventory and onboarding complete the priority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B9291-11F7-4BFC-BEFB-0484C59A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C1584-D4B9-4A33-9D2C-873AF473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B72"/>
                </a:solidFill>
              </a:defRPr>
            </a:pPr>
            <a:r>
              <a:rPr sz="1425" b="1">
                <a:solidFill>
                  <a:srgbClr val="C89B72"/>
                </a:solidFill>
              </a:rPr>
              <a:t>SSD3: Restock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F16DD-91CD-4248-81FE-3501132A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954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B72"/>
                </a:solidFill>
              </a:defRPr>
            </a:pPr>
            <a:r>
              <a:rPr sz="1425" b="1">
                <a:solidFill>
                  <a:srgbClr val="C89B72"/>
                </a:solidFill>
              </a:rPr>
              <a:t>SSD4: Onboard Employee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A1F1D-4D58-405D-8952-30336C7D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143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7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78AC4-5095-4C57-89FC-00308A4B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5143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7EF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c81c9be154eed"/>
          <a:stretch xmlns:a="http://schemas.openxmlformats.org/drawingml/2006/main"/>
        </p:blipFill>
        <p:spPr>
          <a:xfrm xmlns:a="http://schemas.openxmlformats.org/drawingml/2006/main">
            <a:off x="838200" y="2362225"/>
            <a:ext cx="4838700" cy="2819349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b04fd7ac742b3"/>
          <a:stretch xmlns:a="http://schemas.openxmlformats.org/drawingml/2006/main"/>
        </p:blipFill>
        <p:spPr>
          <a:xfrm xmlns:a="http://schemas.openxmlformats.org/drawingml/2006/main">
            <a:off x="6515100" y="2362225"/>
            <a:ext cx="4838700" cy="281934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5F4E8-FD0B-420A-B129-114754F1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7EE26-2D0E-4BA8-9B30-AE6F3CF3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446369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B1D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1EB13-90B6-4AED-9D13-30FCEA85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THE DESIGN IS READY TO MOVE INTO 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06B1D-DE6F-4DA7-ADD0-E9E7A105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157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DD7E0-DF4A-4C24-A04D-831D52B2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000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EFE6"/>
                </a:solidFill>
              </a:defRPr>
            </a:pPr>
            <a:r>
              <a:rPr sz="2025" b="0">
                <a:solidFill>
                  <a:srgbClr val="F7EFE6"/>
                </a:solidFill>
              </a:rPr>
              <a:t>The requirements define the work. The domain model explains the concepts. The architecture separates responsibilities. The SSDs show how users interact with the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04F73-3684-4B9B-8C0A-4DF007C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72"/>
                </a:solidFill>
              </a:defRPr>
            </a:pPr>
            <a:r>
              <a:rPr sz="1350" b="1">
                <a:solidFill>
                  <a:srgbClr val="C89B72"/>
                </a:solidFill>
              </a:rPr>
              <a:t>NEXT PRIORITY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8F7EB-F67F-41D3-9331-26701BD4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A85B"/>
                </a:solidFill>
              </a:defRPr>
            </a:pPr>
            <a:r>
              <a:rPr sz="1875" b="1">
                <a:solidFill>
                  <a:srgbClr val="D7A85B"/>
                </a:solidFill>
              </a:rPr>
              <a:t>Validate Process Sale end to end, then complete the deferred reporting, stock-view and customer-registration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70A38-B70D-4630-B55E-30053839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C8B8"/>
                </a:solidFill>
              </a:defRPr>
            </a:pPr>
            <a:r>
              <a:rPr sz="825" b="0">
                <a:solidFill>
                  <a:srgbClr val="D9C8B8"/>
                </a:solidFill>
              </a:rPr>
              <a:t>CAFÉ POS • ADVANCED SOFTWARE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32061-182D-4B4C-8E10-BE0C3A03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72"/>
                </a:solidFill>
              </a:defRPr>
            </a:pPr>
            <a:r>
              <a:rPr sz="900" b="1">
                <a:solidFill>
                  <a:srgbClr val="C89B7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02058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2026-09-07T21:31:55.3230000Z</dcterms:created>
  <dcterms:modified xsi:type="dcterms:W3CDTF">2026-09-07T21:31:55.3230000Z</dcterms:modified>
</coreProperties>
</file>